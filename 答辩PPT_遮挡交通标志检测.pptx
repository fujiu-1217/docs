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5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55448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YaHei"/>
              </a:rPr>
              <a:t>基于 YOLOv8 的遮挡场景交通标志检测与识别系统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2461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Microsoft YaHei"/>
              </a:rPr>
              <a:t>五类真实遮挡标注 · 目标区域遮挡增强 · 分条件评估 · 实时检测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2D44"/>
                </a:solidFill>
                <a:latin typeface="Microsoft YaHei"/>
              </a:rPr>
              <a:t>1. 任务目标与完成情况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1064240" cy="45720"/>
          </a:xfrm>
          <a:prstGeom prst="rect">
            <a:avLst/>
          </a:prstGeom>
          <a:solidFill>
            <a:srgbClr val="C03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检测并识别部分被树木、车辆等遮挡的交通标志，输出边界框与类别。</a:t>
            </a:r>
          </a:p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采用 Ultralytics YOLOv8s，完成 5 类目标、200 轮基线训练与 200 轮改进训练。</a:t>
            </a:r>
          </a:p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核心指标使用测试集 mAP@0.5，并完成真实图、正常光照、低照度、模糊和追加遮挡评估。</a:t>
            </a:r>
          </a:p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实现图片、视频和摄像头推理，输出误检/漏检案例与 GPU/CPU 速度测试。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2D44"/>
                </a:solidFill>
                <a:latin typeface="Microsoft YaHei"/>
              </a:rPr>
              <a:t>2. 数据集与标注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E6874"/>
                </a:solidFill>
                <a:latin typeface="Microsoft YaHei"/>
              </a:rPr>
              <a:t>用户标注的 LabelMe 检测数据，全部来自真实遮挡道路场景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45720"/>
          </a:xfrm>
          <a:prstGeom prst="rect">
            <a:avLst/>
          </a:prstGeom>
          <a:solidFill>
            <a:srgbClr val="C03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55778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类别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实例数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中文含义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give_way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103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减速让行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no_stopping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禁止停车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parking_place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103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停车位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pedestrian_crossing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人行横道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tow_truck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101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清障车相关标志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29400" y="16916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499 张唯一图片，515 个检测框。</a:t>
            </a:r>
          </a:p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按类别分层划分：349 / 75 / 75 张。</a:t>
            </a:r>
          </a:p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训练、验证、测试源图互斥。</a:t>
            </a:r>
          </a:p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转换后数据集校验结果：0 个缺失标签、0 个越界框。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2D44"/>
                </a:solidFill>
                <a:latin typeface="Microsoft YaHei"/>
              </a:rPr>
              <a:t>3. 方法与改进策略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1064240" cy="45720"/>
          </a:xfrm>
          <a:prstGeom prst="rect">
            <a:avLst/>
          </a:prstGeom>
          <a:solidFill>
            <a:srgbClr val="C03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Baseline：YOLOv8s + 原始 349 张训练图片。</a:t>
            </a:r>
          </a:p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改进模型：在每个训练目标框内生成 1 个目标感知遮挡版本，训练集扩充到 698 张。</a:t>
            </a:r>
          </a:p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遮挡类型：树叶块、树枝线条、车辆色块；遮挡比例分轻度 10%-20%、中度 20%-45%、重度 45%-65%。</a:t>
            </a:r>
          </a:p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验证集和测试集保持不变，确保总体对比公平；条件测试只用于最终评估。</a:t>
            </a:r>
          </a:p>
        </p:txBody>
      </p:sp>
      <p:pic>
        <p:nvPicPr>
          <p:cNvPr id="5" name="Picture 4" descr="condition_examp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00200"/>
            <a:ext cx="5212080" cy="32176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2D44"/>
                </a:solidFill>
                <a:latin typeface="Microsoft YaHei"/>
              </a:rPr>
              <a:t>4. 实验设置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1064240" cy="45720"/>
          </a:xfrm>
          <a:prstGeom prst="rect">
            <a:avLst/>
          </a:prstGeom>
          <a:solidFill>
            <a:srgbClr val="C03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600200"/>
          <a:ext cx="98755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设置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YOLOv8s，预训练权重 yolov8s.pt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输入尺寸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640 × 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训练轮数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Baseline 200 / Occlusion Aug 200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Batch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优化器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Ultralytics Auto（AdamW）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硬件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NVIDIA GeForce RTX 4090 24GB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随机种子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42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2D44"/>
                </a:solidFill>
                <a:latin typeface="Microsoft YaHei"/>
              </a:rPr>
              <a:t>5. 测试集总体结果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E6874"/>
                </a:solidFill>
                <a:latin typeface="Microsoft YaHei"/>
              </a:rPr>
              <a:t>75 张真实遮挡测试图，78 个实例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45720"/>
          </a:xfrm>
          <a:prstGeom prst="rect">
            <a:avLst/>
          </a:prstGeom>
          <a:solidFill>
            <a:srgbClr val="C03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72768"/>
          <a:ext cx="107899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Precision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Recall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mAP@0.5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mAP@0.5:0.95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baseline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98.50%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94.75%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96.88%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75.79%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occlusion_aug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95.40%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93.78%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95.21%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D44"/>
                          </a:solidFill>
                          <a:latin typeface="Microsoft YaHei"/>
                        </a:rPr>
                        <a:t>75.83%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581" y="2907661"/>
            <a:ext cx="6678070" cy="3858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2D44"/>
                </a:solidFill>
                <a:latin typeface="Microsoft YaHei"/>
              </a:rPr>
              <a:t>6. 环境条件对比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E6874"/>
                </a:solidFill>
                <a:latin typeface="Microsoft YaHei"/>
              </a:rPr>
              <a:t>day/night/blur 为合成条件，real 为原始真实遮挡图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45720"/>
          </a:xfrm>
          <a:prstGeom prst="rect">
            <a:avLst/>
          </a:prstGeom>
          <a:solidFill>
            <a:srgbClr val="C03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ndi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36038"/>
            <a:ext cx="6583680" cy="3423514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52360" y="1737360"/>
          <a:ext cx="4114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条件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Baseline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增强模型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blur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96.38%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95.40%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95.74%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95.11%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night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96.97%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95.17%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occluded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91.13%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94.81%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real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96.88%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95.21%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2D44"/>
                </a:solidFill>
                <a:latin typeface="Microsoft YaHei"/>
              </a:rPr>
              <a:t>7. 遮挡强度对比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E6874"/>
                </a:solidFill>
                <a:latin typeface="Microsoft YaHei"/>
              </a:rPr>
              <a:t>light/medium/heavy 为在真实遮挡图上追加的目标区域遮挡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45720"/>
          </a:xfrm>
          <a:prstGeom prst="rect">
            <a:avLst/>
          </a:prstGeom>
          <a:solidFill>
            <a:srgbClr val="C03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occlus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" y="1938528"/>
            <a:ext cx="6583680" cy="3423514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52360" y="1737360"/>
          <a:ext cx="4114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953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遮挡组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Baseline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增强模型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heavy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87.89%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95.13%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93.04%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94.16%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medium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93.38%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95.60%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real_occluded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96.38%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95.23%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2D44"/>
                </a:solidFill>
                <a:latin typeface="Microsoft YaHei"/>
              </a:rPr>
              <a:t>8. 训练过程与收敛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1064240" cy="45720"/>
          </a:xfrm>
          <a:prstGeom prst="rect">
            <a:avLst/>
          </a:prstGeom>
          <a:solidFill>
            <a:srgbClr val="C03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86" y="2350893"/>
            <a:ext cx="5350715" cy="2675358"/>
          </a:xfrm>
          <a:prstGeom prst="rect">
            <a:avLst/>
          </a:prstGeom>
        </p:spPr>
      </p:pic>
      <p:pic>
        <p:nvPicPr>
          <p:cNvPr id="5" name="Picture 4" descr="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83051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2D44"/>
                </a:solidFill>
                <a:latin typeface="Microsoft YaHei"/>
              </a:rPr>
              <a:t>9. 误检与漏检分析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1064240" cy="45720"/>
          </a:xfrm>
          <a:prstGeom prst="rect">
            <a:avLst/>
          </a:prstGeom>
          <a:solidFill>
            <a:srgbClr val="C03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abelme_0341_fp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3657600" cy="4876800"/>
          </a:xfrm>
          <a:prstGeom prst="rect">
            <a:avLst/>
          </a:prstGeom>
        </p:spPr>
      </p:pic>
      <p:pic>
        <p:nvPicPr>
          <p:cNvPr id="5" name="Picture 4" descr="labelme_0230_fn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600200"/>
            <a:ext cx="3657600" cy="4876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75320" y="169164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漏检主要与目标尺寸小、真实遮挡覆盖关键轮廓、低照度叠加有关。</a:t>
            </a:r>
          </a:p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误检主要来自相似外形与背景结构；高置信度阈值可减少低质量误检。</a:t>
            </a:r>
          </a:p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错误案例由脚本按类别和 IoU 自动匹配、保存，便于复核。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2D44"/>
                </a:solidFill>
                <a:latin typeface="Microsoft YaHei"/>
              </a:rPr>
              <a:t>10. 实时检测与工程实现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1064240" cy="45720"/>
          </a:xfrm>
          <a:prstGeom prst="rect">
            <a:avLst/>
          </a:prstGeom>
          <a:solidFill>
            <a:srgbClr val="C03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6400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模型/设备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分辨率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单张耗时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FPS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D44"/>
                          </a:solidFill>
                          <a:latin typeface="Microsoft YaHei"/>
                        </a:rPr>
                        <a:t>augmented_cpu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D44"/>
                          </a:solidFill>
                          <a:latin typeface="Microsoft YaHei"/>
                        </a:rPr>
                        <a:t>640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D44"/>
                          </a:solidFill>
                          <a:latin typeface="Microsoft YaHei"/>
                        </a:rPr>
                        <a:t>93.22 ms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D44"/>
                          </a:solidFill>
                          <a:latin typeface="Microsoft YaHei"/>
                        </a:rPr>
                        <a:t>10.73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D44"/>
                          </a:solidFill>
                          <a:latin typeface="Microsoft YaHei"/>
                        </a:rPr>
                        <a:t>augmented_gpu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D44"/>
                          </a:solidFill>
                          <a:latin typeface="Microsoft YaHei"/>
                        </a:rPr>
                        <a:t>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D44"/>
                          </a:solidFill>
                          <a:latin typeface="Microsoft YaHei"/>
                        </a:rPr>
                        <a:t>11.80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D44"/>
                          </a:solidFill>
                          <a:latin typeface="Microsoft YaHei"/>
                        </a:rPr>
                        <a:t>84.72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D44"/>
                          </a:solidFill>
                          <a:latin typeface="Microsoft YaHei"/>
                        </a:rPr>
                        <a:t>baseline_cpu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D44"/>
                          </a:solidFill>
                          <a:latin typeface="Microsoft YaHei"/>
                        </a:rPr>
                        <a:t>640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D44"/>
                          </a:solidFill>
                          <a:latin typeface="Microsoft YaHei"/>
                        </a:rPr>
                        <a:t>88.46 ms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D44"/>
                          </a:solidFill>
                          <a:latin typeface="Microsoft YaHei"/>
                        </a:rPr>
                        <a:t>11.30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D44"/>
                          </a:solidFill>
                          <a:latin typeface="Microsoft YaHei"/>
                        </a:rPr>
                        <a:t>baseline_gpu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D44"/>
                          </a:solidFill>
                          <a:latin typeface="Microsoft YaHei"/>
                        </a:rPr>
                        <a:t>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D44"/>
                          </a:solidFill>
                          <a:latin typeface="Microsoft YaHei"/>
                        </a:rPr>
                        <a:t>12.35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D44"/>
                          </a:solidFill>
                          <a:latin typeface="Microsoft YaHei"/>
                        </a:rPr>
                        <a:t>80.95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52360" y="1737360"/>
            <a:ext cx="4069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统一推理脚本支持单图、目录、视频、URL 与摄像头编号。</a:t>
            </a:r>
          </a:p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Demo 输出保存于 results/demo/，包含检测框、类别和置信度。</a:t>
            </a:r>
          </a:p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模型权重、训练曲线、混淆矩阵、PR 曲线和全部 CSV 指标均已归档。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2D44"/>
                </a:solidFill>
                <a:latin typeface="Microsoft YaHei"/>
              </a:rPr>
              <a:t>11. 附加功能：ONNX 与 ByteTrack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1064240" cy="45720"/>
          </a:xfrm>
          <a:prstGeom prst="rect">
            <a:avLst/>
          </a:prstGeom>
          <a:solidFill>
            <a:srgbClr val="C03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60020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后端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检测数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类别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置信度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FPS</a:t>
                      </a:r>
                    </a:p>
                  </a:txBody>
                  <a:tcPr>
                    <a:solidFill>
                      <a:srgbClr val="1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PyTorch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0.961216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5.92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ONNX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0.961367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D44"/>
                          </a:solidFill>
                          <a:latin typeface="Microsoft YaHei"/>
                        </a:rPr>
                        <a:t>5.65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 descr="tracking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600200"/>
            <a:ext cx="438912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88620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导出 42.7MB ONNX 模型，官方结构检查通过。</a:t>
            </a:r>
          </a:p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PyTorch 与 ONNX Runtime 的类别、检测数一致，置信度差约 0.00015。</a:t>
            </a:r>
          </a:p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新增 ByteTrack 视频/摄像头跟踪入口，演示结果显示 Track ID。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2D44"/>
                </a:solidFill>
                <a:latin typeface="Microsoft YaHei"/>
              </a:rPr>
              <a:t>12. 结论与不足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1064240" cy="45720"/>
          </a:xfrm>
          <a:prstGeom prst="rect">
            <a:avLst/>
          </a:prstGeom>
          <a:solidFill>
            <a:srgbClr val="C03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Baseline 测试集 mAP@0.5 为 96.88%，达到课程 75% 目标。</a:t>
            </a:r>
          </a:p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遮挡增强模型测试集 mAP@0.5 为 95.21%，Recall 为 93.78%。</a:t>
            </a:r>
          </a:p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分条件实验量化了低照度、模糊和追加遮挡对检测效果的影响。</a:t>
            </a:r>
          </a:p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当前数据规模较小，且无像素级遮挡比例标注；轻/中/重组为合成附加遮挡，结论不能替代更大真实遮挡基准。</a:t>
            </a:r>
          </a:p>
          <a:p>
            <a:pPr>
              <a:spcAft>
                <a:spcPts val="1300"/>
              </a:spcAft>
              <a:defRPr sz="2000">
                <a:solidFill>
                  <a:srgbClr val="1D2D44"/>
                </a:solidFill>
                <a:latin typeface="Microsoft YaHei"/>
              </a:defRPr>
            </a:pPr>
            <a:r>
              <a:t>后续可增加真实夜间与车辆遮挡样本，并尝试更高分辨率、小目标检测层和 TensorRT 部署。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516</Words>
  <Application>Microsoft Office PowerPoint</Application>
  <PresentationFormat>宽屏</PresentationFormat>
  <Paragraphs>161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hai mao</cp:lastModifiedBy>
  <cp:revision>2</cp:revision>
  <dcterms:created xsi:type="dcterms:W3CDTF">2013-01-27T09:14:16Z</dcterms:created>
  <dcterms:modified xsi:type="dcterms:W3CDTF">2026-06-14T07:51:16Z</dcterms:modified>
  <cp:category/>
</cp:coreProperties>
</file>